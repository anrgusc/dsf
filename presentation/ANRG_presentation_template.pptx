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cf5c71d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cf5c71d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cf5c71d8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cf5c71d8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cf5c71d8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cf5c71d8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cf5c71d8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cf5c71d8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cf5c71d8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cf5c71d8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cf5c71d87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cf5c71d8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cf5c71d8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cf5c71d8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cf5c71d87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cf5c71d87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nrg.usc.edu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medium.com/@bhaskark2/the-abc-of-emerging-technologies-4c52da5cc51b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Relationship Id="rId4" Type="http://schemas.openxmlformats.org/officeDocument/2006/relationships/hyperlink" Target="https://latex.codecogs.com/eqneditor/editor.ph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email@usc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270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980000"/>
                </a:solidFill>
              </a:rPr>
              <a:t>Introduction to IoT</a:t>
            </a:r>
            <a:endParaRPr b="1" sz="3600">
              <a:solidFill>
                <a:srgbClr val="980000"/>
              </a:solidFill>
            </a:endParaRPr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3488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800"/>
              <a:t>Names of presenter(s)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800"/>
              <a:t>email(s)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800"/>
              <a:t>Autonomous Networks Research Group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800"/>
              <a:t>Viterbi School of Engineering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800"/>
              <a:t>University of Southern California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https://anrg.usc.edu</a:t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800"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9267" y="239000"/>
            <a:ext cx="1393025" cy="11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5">
            <a:alphaModFix/>
          </a:blip>
          <a:srcRect b="19833" l="7538" r="6113" t="20806"/>
          <a:stretch/>
        </p:blipFill>
        <p:spPr>
          <a:xfrm>
            <a:off x="311700" y="358550"/>
            <a:ext cx="2569149" cy="9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195100" y="4656550"/>
            <a:ext cx="78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31, 2021     International Conference on xyz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Overview of Talk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308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Internet of Things (IoT) and smart cities 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IoT 1.0: the problem of data silos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I3 data marketplace for smart cities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236825" y="164125"/>
            <a:ext cx="78945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980000"/>
                </a:solidFill>
              </a:rPr>
              <a:t>The ABC of Data Technologies</a:t>
            </a:r>
            <a:endParaRPr b="1" sz="2800">
              <a:solidFill>
                <a:srgbClr val="980000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400" y="1322525"/>
            <a:ext cx="2546700" cy="2403000"/>
          </a:xfrm>
          <a:prstGeom prst="ellipse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7"/>
          <p:cNvSpPr txBox="1"/>
          <p:nvPr/>
        </p:nvSpPr>
        <p:spPr>
          <a:xfrm>
            <a:off x="6702375" y="3831525"/>
            <a:ext cx="18438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80000"/>
                </a:solidFill>
              </a:rPr>
              <a:t>C</a:t>
            </a:r>
            <a:r>
              <a:rPr lang="en" sz="1800">
                <a:solidFill>
                  <a:srgbClr val="434343"/>
                </a:solidFill>
              </a:rPr>
              <a:t>onnected Devices (IoT)</a:t>
            </a:r>
            <a:endParaRPr sz="1800">
              <a:solidFill>
                <a:srgbClr val="434343"/>
              </a:solidFill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300075" y="1271600"/>
            <a:ext cx="2563500" cy="3213925"/>
            <a:chOff x="3424275" y="1043000"/>
            <a:chExt cx="2563500" cy="3213925"/>
          </a:xfrm>
        </p:grpSpPr>
        <p:pic>
          <p:nvPicPr>
            <p:cNvPr id="84" name="Google Shape;84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24275" y="1043000"/>
              <a:ext cx="2563500" cy="2469600"/>
            </a:xfrm>
            <a:prstGeom prst="ellipse">
              <a:avLst/>
            </a:prstGeom>
            <a:noFill/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5" name="Google Shape;85;p17"/>
            <p:cNvSpPr txBox="1"/>
            <p:nvPr/>
          </p:nvSpPr>
          <p:spPr>
            <a:xfrm>
              <a:off x="4298650" y="2349875"/>
              <a:ext cx="6873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A.I.</a:t>
              </a:r>
              <a:endParaRPr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3730575" y="3602925"/>
              <a:ext cx="2163000" cy="6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980000"/>
                  </a:solidFill>
                </a:rPr>
                <a:t>A</a:t>
              </a:r>
              <a:r>
                <a:rPr lang="en" sz="1800">
                  <a:solidFill>
                    <a:srgbClr val="434343"/>
                  </a:solidFill>
                </a:rPr>
                <a:t>rtificial Intelligence</a:t>
              </a:r>
              <a:endParaRPr sz="1800">
                <a:solidFill>
                  <a:srgbClr val="434343"/>
                </a:solidFill>
              </a:endParaRPr>
            </a:p>
          </p:txBody>
        </p:sp>
      </p:grpSp>
      <p:sp>
        <p:nvSpPr>
          <p:cNvPr id="87" name="Google Shape;87;p17"/>
          <p:cNvSpPr txBox="1"/>
          <p:nvPr/>
        </p:nvSpPr>
        <p:spPr>
          <a:xfrm>
            <a:off x="3425775" y="3831525"/>
            <a:ext cx="21630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80000"/>
                </a:solidFill>
              </a:rPr>
              <a:t>B</a:t>
            </a:r>
            <a:r>
              <a:rPr lang="en" sz="1800">
                <a:solidFill>
                  <a:srgbClr val="434343"/>
                </a:solidFill>
              </a:rPr>
              <a:t>lockchain </a:t>
            </a:r>
            <a:endParaRPr sz="1800">
              <a:solidFill>
                <a:srgbClr val="434343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5">
            <a:alphaModFix/>
          </a:blip>
          <a:srcRect b="0" l="11058" r="10737" t="0"/>
          <a:stretch/>
        </p:blipFill>
        <p:spPr>
          <a:xfrm>
            <a:off x="3244575" y="1322525"/>
            <a:ext cx="2546700" cy="2439000"/>
          </a:xfrm>
          <a:prstGeom prst="ellipse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7"/>
          <p:cNvSpPr txBox="1"/>
          <p:nvPr/>
        </p:nvSpPr>
        <p:spPr>
          <a:xfrm>
            <a:off x="234125" y="4628700"/>
            <a:ext cx="82464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https://medium.com/@bhaskark2/the-abc-of-emerging-technologies-4c52da5cc51b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50" y="1108350"/>
            <a:ext cx="2926800" cy="29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type="title"/>
          </p:nvPr>
        </p:nvSpPr>
        <p:spPr>
          <a:xfrm>
            <a:off x="51300" y="51725"/>
            <a:ext cx="5140200" cy="696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Fundamental Questions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11100" y="1485275"/>
            <a:ext cx="4838700" cy="2879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34424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50">
                <a:solidFill>
                  <a:srgbClr val="666666"/>
                </a:solidFill>
              </a:rPr>
              <a:t>Who owns data? Who needs the data? </a:t>
            </a:r>
            <a:br>
              <a:rPr lang="en" sz="2350">
                <a:solidFill>
                  <a:srgbClr val="666666"/>
                </a:solidFill>
              </a:rPr>
            </a:br>
            <a:br>
              <a:rPr lang="en" sz="2350">
                <a:solidFill>
                  <a:srgbClr val="666666"/>
                </a:solidFill>
              </a:rPr>
            </a:br>
            <a:endParaRPr sz="2350">
              <a:solidFill>
                <a:srgbClr val="666666"/>
              </a:solidFill>
            </a:endParaRPr>
          </a:p>
          <a:p>
            <a:pPr indent="-3442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50">
                <a:solidFill>
                  <a:srgbClr val="666666"/>
                </a:solidFill>
              </a:rPr>
              <a:t>What rights do data owners have?</a:t>
            </a:r>
            <a:br>
              <a:rPr lang="en" sz="2350">
                <a:solidFill>
                  <a:srgbClr val="666666"/>
                </a:solidFill>
              </a:rPr>
            </a:br>
            <a:br>
              <a:rPr lang="en" sz="2350">
                <a:solidFill>
                  <a:srgbClr val="666666"/>
                </a:solidFill>
              </a:rPr>
            </a:br>
            <a:endParaRPr sz="2350">
              <a:solidFill>
                <a:srgbClr val="666666"/>
              </a:solidFill>
            </a:endParaRPr>
          </a:p>
          <a:p>
            <a:pPr indent="-3442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2350">
                <a:solidFill>
                  <a:srgbClr val="666666"/>
                </a:solidFill>
              </a:rPr>
              <a:t>How can data owners manage and monetize their data? </a:t>
            </a:r>
            <a:endParaRPr sz="235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8" name="Google Shape;98;p18"/>
          <p:cNvSpPr txBox="1"/>
          <p:nvPr/>
        </p:nvSpPr>
        <p:spPr>
          <a:xfrm>
            <a:off x="51300" y="4395775"/>
            <a:ext cx="884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Bhaskar Krishnamachari, Jerry Power, Seon Ho Kim, Cyrus Shahabi, “I3: An IoT Marketplace for Smart Communities,” In Proceedings of the 16th ACM International Conference on Mobile Mobile Systems, Applications, and Services (MobiSys) (ACM IoT Day Vision Paper), Munich, Germany, June 10-15, 2018.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93500" y="174175"/>
            <a:ext cx="905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980000"/>
                </a:solidFill>
              </a:rPr>
              <a:t>Blockchain Technology: New Capabilities </a:t>
            </a:r>
            <a:endParaRPr b="1" sz="2800">
              <a:solidFill>
                <a:srgbClr val="980000"/>
              </a:solidFill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1359444" y="959962"/>
            <a:ext cx="6955903" cy="4039040"/>
            <a:chOff x="1799525" y="1165900"/>
            <a:chExt cx="5650153" cy="3559880"/>
          </a:xfrm>
        </p:grpSpPr>
        <p:sp>
          <p:nvSpPr>
            <p:cNvPr id="106" name="Google Shape;106;p19"/>
            <p:cNvSpPr/>
            <p:nvPr/>
          </p:nvSpPr>
          <p:spPr>
            <a:xfrm>
              <a:off x="5696478" y="1165900"/>
              <a:ext cx="1753200" cy="7593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Incentives</a:t>
              </a:r>
              <a:endParaRPr sz="1800"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3748001" y="1165900"/>
              <a:ext cx="1753200" cy="7593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Ordering,</a:t>
              </a:r>
              <a:endParaRPr sz="1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Time Stamping</a:t>
              </a:r>
              <a:endParaRPr sz="1800"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1799525" y="1165900"/>
              <a:ext cx="1753200" cy="759300"/>
            </a:xfrm>
            <a:prstGeom prst="rect">
              <a:avLst/>
            </a:prstGeom>
            <a:solidFill>
              <a:srgbClr val="E6B8A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Immutable</a:t>
              </a:r>
              <a:endParaRPr sz="1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Ledger</a:t>
              </a:r>
              <a:endParaRPr sz="1800"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799525" y="2141149"/>
              <a:ext cx="1753200" cy="7593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Distributed</a:t>
              </a:r>
              <a:endParaRPr sz="1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Consensus</a:t>
              </a:r>
              <a:endParaRPr sz="1800"/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3748001" y="2141149"/>
              <a:ext cx="1753200" cy="7593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State Channels</a:t>
              </a:r>
              <a:endParaRPr sz="1800"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5696478" y="2171069"/>
              <a:ext cx="1753200" cy="7593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 Micro-payments</a:t>
              </a:r>
              <a:endParaRPr sz="1800"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3753828" y="3084859"/>
              <a:ext cx="1753200" cy="7593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Smart Contracts</a:t>
              </a:r>
              <a:endParaRPr sz="1800"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5696478" y="3084859"/>
              <a:ext cx="1753200" cy="759300"/>
            </a:xfrm>
            <a:prstGeom prst="rect">
              <a:avLst/>
            </a:prstGeom>
            <a:solidFill>
              <a:srgbClr val="EAD1D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Decentralized</a:t>
              </a:r>
              <a:endParaRPr sz="1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Apps</a:t>
              </a:r>
              <a:endParaRPr sz="1800"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3753828" y="3966480"/>
              <a:ext cx="1753200" cy="759300"/>
            </a:xfrm>
            <a:prstGeom prst="rect">
              <a:avLst/>
            </a:prstGeom>
            <a:solidFill>
              <a:srgbClr val="B4A7D6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Notification,</a:t>
              </a:r>
              <a:endParaRPr sz="1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Querying</a:t>
              </a:r>
              <a:endParaRPr sz="1800"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5696478" y="3966480"/>
              <a:ext cx="1753200" cy="759300"/>
            </a:xfrm>
            <a:prstGeom prst="rect">
              <a:avLst/>
            </a:prstGeom>
            <a:solidFill>
              <a:srgbClr val="D5A6BD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Off-chain Processing &amp; Storage</a:t>
              </a:r>
              <a:endParaRPr sz="1800"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1811179" y="3966480"/>
              <a:ext cx="1753200" cy="7593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Oracles</a:t>
              </a:r>
              <a:endParaRPr sz="1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TCRs</a:t>
              </a:r>
              <a:endParaRPr sz="1800"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1811179" y="3084859"/>
              <a:ext cx="1753200" cy="7593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Privacy, </a:t>
              </a:r>
              <a:br>
                <a:rPr lang="en" sz="1800"/>
              </a:br>
              <a:r>
                <a:rPr lang="en" sz="1800"/>
                <a:t>Anonymity</a:t>
              </a:r>
              <a:endParaRPr sz="1800"/>
            </a:p>
          </p:txBody>
        </p:sp>
      </p:grp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System Analysis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152475"/>
            <a:ext cx="8520600" cy="6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The temporal dynamics of the system can be modeled as follows: </a:t>
            </a:r>
            <a:endParaRPr sz="200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075" y="2085425"/>
            <a:ext cx="2933045" cy="62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0"/>
          <p:cNvCxnSpPr/>
          <p:nvPr/>
        </p:nvCxnSpPr>
        <p:spPr>
          <a:xfrm rot="10800000">
            <a:off x="5332775" y="2770525"/>
            <a:ext cx="676500" cy="4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 txBox="1"/>
          <p:nvPr/>
        </p:nvSpPr>
        <p:spPr>
          <a:xfrm>
            <a:off x="6152375" y="3069675"/>
            <a:ext cx="144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effects</a:t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1245000" y="3069675"/>
            <a:ext cx="144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1101925" y="2992650"/>
            <a:ext cx="144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 constant</a:t>
            </a:r>
            <a:endParaRPr/>
          </a:p>
        </p:txBody>
      </p:sp>
      <p:cxnSp>
        <p:nvCxnSpPr>
          <p:cNvPr id="130" name="Google Shape;130;p20"/>
          <p:cNvCxnSpPr/>
          <p:nvPr/>
        </p:nvCxnSpPr>
        <p:spPr>
          <a:xfrm flipH="1" rot="10800000">
            <a:off x="2042125" y="2523500"/>
            <a:ext cx="1131600" cy="7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0"/>
          <p:cNvSpPr txBox="1"/>
          <p:nvPr/>
        </p:nvSpPr>
        <p:spPr>
          <a:xfrm>
            <a:off x="2112800" y="3691350"/>
            <a:ext cx="20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model</a:t>
            </a:r>
            <a:endParaRPr/>
          </a:p>
        </p:txBody>
      </p:sp>
      <p:cxnSp>
        <p:nvCxnSpPr>
          <p:cNvPr id="132" name="Google Shape;132;p20"/>
          <p:cNvCxnSpPr>
            <a:stCxn id="131" idx="0"/>
          </p:cNvCxnSpPr>
          <p:nvPr/>
        </p:nvCxnSpPr>
        <p:spPr>
          <a:xfrm flipH="1" rot="10800000">
            <a:off x="3124550" y="2796450"/>
            <a:ext cx="491400" cy="89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0"/>
          <p:cNvSpPr txBox="1"/>
          <p:nvPr/>
        </p:nvSpPr>
        <p:spPr>
          <a:xfrm>
            <a:off x="195100" y="4448425"/>
            <a:ext cx="89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Link for creating colored LaTeX equations for presentations: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https://latex.codecogs.com/eqneditor/editor.php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Summary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algorithm for scheduling computations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show 30% higher throughput than state of the art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work needed to address security and reliability</a:t>
            </a:r>
            <a:endParaRPr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Acknowledgements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work was supported in part by [NSF/DARPA/ARL/Company] through [grant/award number]. Any views, opinions, and/or findings expressed are those of the author(s) only.</a:t>
            </a:r>
            <a:endParaRPr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26841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Thanks</a:t>
            </a:r>
            <a:endParaRPr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Contact: </a:t>
            </a:r>
            <a:r>
              <a:rPr lang="en" sz="22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email@usc.edu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