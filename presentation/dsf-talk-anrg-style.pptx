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016"/>
    <p:restoredTop sz="94695"/>
  </p:normalViewPr>
  <p:slideViewPr>
    <p:cSldViewPr snapToGrid="0">
      <p:cViewPr>
        <p:scale>
          <a:sx n="61" d="100"/>
          <a:sy n="61" d="100"/>
        </p:scale>
        <p:origin x="208" y="16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font" Target="fonts/font1.fntdata"/><Relationship Id="rId40" Type="http://schemas.openxmlformats.org/officeDocument/2006/relationships/font" Target="fonts/font2.fntdata"/><Relationship Id="rId41" Type="http://schemas.openxmlformats.org/officeDocument/2006/relationships/font" Target="fonts/font3.fntdata"/><Relationship Id="rId42" Type="http://schemas.openxmlformats.org/officeDocument/2006/relationships/font" Target="fonts/font4.fntdata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Title slide. Brief greeting; ~35 minutes of material plus Q&amp;A. I'll outline the motivation, system, scheduling, and what we measured.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Outline. Heavier on system and scheduling than on motivation; evaluation is three result figures plus an ablation.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 the scene. The point is that edge DAGs differ from cloud DAGs in two specific ways: hardware affinity matters, and the network between nodes is not flat.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Formal-ish problem statement. The 'unknown a priori' constraint is the part that motivates the online profiler — most HEFT papers assume w and B are given.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slide on prior work. The unifying observation across the comparison: none of these systems reason about which physical node a payload needs to land on, or about non-uniform link bandwidth.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contributions; C1 and C2 are the research core, C3–C4 are the platform that makes them measurable, C5 is the empirical evidence.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Section: Part I — System architecture.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CRDs, two controllers, one UI, one DaemonSet for P2P transfers. The shape mirrors a standard K8s controller layout, but with our scheduling and data-plane sitting inside it.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CRD group, two kinds. The user's mental model is one tool for both finite and continuous workloads.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steps. The non-obvious choice is step 3 — pods are created all at once. ZMQ PUSH/PULL needs the receiver bound first; downstream tasks block on recv() until the upstream sends.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CDAG has no completion event, so reconciliation is the design. Idempotent and stateless — the controller can be killed and restarted without orphaning pods.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Four-line contract. Tasks don't know whether they're in an ODAG or CDAG — the env vars decide. Same code path for batch and streaming.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ZMQ for messaging because brokerless. data-agent for files because we want compute–transfer decoupling.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Read-only UI; submission goes through the CLI. SSE-driven so it feels real-time without polling. Will demo if time permits.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Section: Part II — Scheduling.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floor — the scheduler we compare against. It's the right default when nothing is known about runtimes or bandwidth.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HEFT itself isn't novel. The contribution is (i) running it online with a profiler and (ii) modelling parallel pod execution on the same node — classical HEFT assumes sequential.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Cheap, robust, defensible. The resolver chain is the part reviewers may push on — we never let HEFT see NaN, even on run 0.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contribution that emerged from a debugging session and turned out to be the cleanest research point. Bounded knob, measurable Pareto front, principled framing.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Section: Part III — Evaluation.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20× asymmetry sounds extreme but it's well within real edge (WAN + LAN, or 5G + wired). The bottleneck pairs are engineered so HEFT has somewhere to be smart.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Headline result. Two things to call out: the mean drop and the variance collapse (5.5 → 0.8 s). Real-time edge cares about both.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Don't gloss over the cold-start cost — call it out. Honest story: 3–4 runs to converge, run 1 sometimes worse than random, stable thereafter.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Justifies ε as a real contribution and not a heuristic. Bounded knob, measurable effect, honest saturating curve.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discuss model fidelity. The right framing: predicted is good enough to drive placement, not good enough to be quoted as wall-clock SLA.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Tail latency is the headline for streaming. 39 % p95 reduction matters more than the 22 % mean reduction for any real-time pipeline.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Mostly a structural argument — at edge sizes the broker overhead is large because the cluster is small.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Section: Part IV — Discussion.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honest 'what surprised us' bullets. Lab audiences value these more than polished results.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Lay these out before the audience does. A clean limitations slide is worth two reviewer rounds.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variance-aware HEFT — it's the most natural follow-up to ε. End on the paper target so the room knows what the next deliverable is.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these four bullets. One sentence each. Then questions.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Standard ANRG acknowledgements slide. Fill in the actual grant before presenting.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the floor.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Backup. Pull up if asked about the benchmark structure.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table for Q&amp;A.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2">
  <p:cSld name="TITLE_AND_BODY_2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sc_viterb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58550"/>
            <a:ext cx="2569149" cy="927325"/>
          </a:xfrm>
          <a:prstGeom prst="rect">
            <a:avLst/>
          </a:prstGeom>
        </p:spPr>
      </p:pic>
      <p:pic>
        <p:nvPicPr>
          <p:cNvPr id="3" name="Picture 2" descr="anrg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267" y="239000"/>
            <a:ext cx="1393025" cy="1151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708" y="270575"/>
            <a:ext cx="8520600" cy="2052600"/>
          </a:xfrm>
          <a:prstGeom prst="rect">
            <a:avLst/>
          </a:prstGeom>
          <a:noFill/>
        </p:spPr>
        <p:txBody>
          <a:bodyPr wrap="square" lIns="91425" rIns="91425" tIns="91425" bIns="91425" anchor="b">
            <a:spAutoFit/>
          </a:bodyPr>
          <a:lstStyle/>
          <a:p>
            <a:pPr algn="ctr"/>
            <a:r>
              <a:rPr sz="3000" b="1">
                <a:solidFill>
                  <a:srgbClr val="980000"/>
                </a:solidFill>
              </a:rPr>
              <a:t>DSF: A Network-Aware DAG Scheduling Framework for Heterogeneous Edge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2348800"/>
            <a:ext cx="8520600" cy="20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/>
              <a:t>Mohammadali Khodabandehlou</a:t>
            </a:r>
          </a:p>
          <a:p>
            <a:pPr algn="ctr"/>
            <a:r>
              <a:rPr sz="1600"/>
              <a:t>mohammadali.khodabandelou@gmail.com</a:t>
            </a:r>
          </a:p>
          <a:p>
            <a:pPr algn="ctr"/>
            <a:r>
              <a:rPr sz="1600"/>
              <a:t/>
            </a:r>
          </a:p>
          <a:p>
            <a:pPr algn="ctr"/>
            <a:r>
              <a:rPr sz="1600"/>
              <a:t>Autonomous Networks Research Group</a:t>
            </a:r>
          </a:p>
          <a:p>
            <a:pPr algn="ctr"/>
            <a:r>
              <a:rPr sz="1600"/>
              <a:t>Viterbi School of Engineering</a:t>
            </a:r>
          </a:p>
          <a:p>
            <a:pPr algn="ctr"/>
            <a:r>
              <a:rPr sz="1600"/>
              <a:t>University of Southern California</a:t>
            </a:r>
          </a:p>
          <a:p>
            <a:pPr algn="ctr"/>
            <a:r>
              <a:rPr sz="1600" u="sng">
                <a:solidFill>
                  <a:srgbClr val="1155CC"/>
                </a:solidFill>
              </a:rPr>
              <a:t>https://anrg.usc.edu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100" y="4656550"/>
            <a:ext cx="7856400" cy="4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April 28, 2026     ·     ANRG Group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800">
                <a:solidFill>
                  <a:srgbClr val="980000"/>
                </a:solidFill>
              </a:rPr>
              <a:t>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600"/>
              <a:t>Background and problem statement</a:t>
            </a:r>
          </a:p>
          <a:p>
            <a:r>
              <a:rPr sz="1600"/>
              <a:t>Limitations of existing DAG/streaming frameworks on the edge</a:t>
            </a:r>
          </a:p>
          <a:p>
            <a:r>
              <a:rPr sz="1600"/>
              <a:t>DSF: system model and architecture</a:t>
            </a:r>
          </a:p>
          <a:p>
            <a:r>
              <a:rPr sz="1600"/>
              <a:t>Network-aware scheduling: HEFT with online profiling</a:t>
            </a:r>
          </a:p>
          <a:p>
            <a:r>
              <a:rPr sz="1600"/>
              <a:t>ε-tolerant tie-breaking under estimator noise</a:t>
            </a:r>
          </a:p>
          <a:p>
            <a:r>
              <a:rPr sz="1600"/>
              <a:t>Experimental evaluation on an 8-node tc-shaped testbed</a:t>
            </a:r>
          </a:p>
          <a:p>
            <a:r>
              <a:rPr sz="1600"/>
              <a:t>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200">
                <a:solidFill>
                  <a:srgbClr val="980000"/>
                </a:solidFill>
              </a:rPr>
              <a:t>Background: DAG-shaped workloads on edge clusters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400"/>
              <a:t>Edge / on-premises clusters increasingly host structured pipelines:</a:t>
            </a:r>
          </a:p>
          <a:p>
            <a:pPr lvl="1"/>
            <a:r>
              <a:rPr sz="1400"/>
              <a:t>Sensor capture → preprocessing → ML inference → action / storage</a:t>
            </a:r>
          </a:p>
          <a:p>
            <a:pPr lvl="1"/>
            <a:r>
              <a:rPr sz="1400"/>
              <a:t>Examples: IoBT mission analytics, scientific data processing, distributed network measurement</a:t>
            </a:r>
          </a:p>
          <a:p>
            <a:r>
              <a:rPr sz="1400"/>
              <a:t>These workloads are naturally DAG-shaped:</a:t>
            </a:r>
          </a:p>
          <a:p>
            <a:pPr lvl="1"/>
            <a:r>
              <a:rPr sz="1400"/>
              <a:t>Tasks have explicit dependencies and per-stage hardware affinity</a:t>
            </a:r>
          </a:p>
          <a:p>
            <a:pPr lvl="1"/>
            <a:r>
              <a:rPr sz="1400"/>
              <a:t>Inter-stage payloads range from kilobytes to hundreds of megabytes</a:t>
            </a:r>
          </a:p>
          <a:p>
            <a:r>
              <a:rPr sz="1400"/>
              <a:t>The deployment substrate is heterogeneous in two dimensions:</a:t>
            </a:r>
          </a:p>
          <a:p>
            <a:pPr lvl="1"/>
            <a:r>
              <a:rPr sz="1400"/>
              <a:t>Compute: ARM single-board computers, x86 servers, GPU nodes</a:t>
            </a:r>
          </a:p>
          <a:p>
            <a:pPr lvl="1"/>
            <a:r>
              <a:rPr sz="1400"/>
              <a:t>Network: inter-node bandwidth varies 10–20× across pairs in real deployments (mixed wired / wireless, multi-tier topologies)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800">
                <a:solidFill>
                  <a:srgbClr val="980000"/>
                </a:solidFill>
              </a:rP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300"/>
              <a:t>Given:</a:t>
            </a:r>
          </a:p>
          <a:p>
            <a:pPr lvl="1"/>
            <a:r>
              <a:rPr sz="1300"/>
              <a:t>A DAG  G = (T, E)  with per-task resource demand r(t) and inter-task data volume d(t, t′)</a:t>
            </a:r>
          </a:p>
          <a:p>
            <a:pPr lvl="1"/>
            <a:r>
              <a:rPr sz="1300"/>
              <a:t>A heterogeneous cluster N with a bandwidth matrix B : N × N → ℝ⁺  and per-node capacity c(n)</a:t>
            </a:r>
          </a:p>
          <a:p>
            <a:pPr lvl="1"/>
            <a:r>
              <a:rPr sz="1300"/>
              <a:t>Per-task affinity sets  A(t) ⊆ N  (hardware-driven, e.g. GPU)</a:t>
            </a:r>
          </a:p>
          <a:p>
            <a:r>
              <a:rPr sz="1300"/>
              <a:t>Find a placement  τ : T → N  with  τ(t) ∈ A(t)  that:</a:t>
            </a:r>
          </a:p>
          <a:p>
            <a:pPr lvl="1"/>
            <a:r>
              <a:rPr sz="1300"/>
              <a:t>Minimises makespan for one-shot DAGs</a:t>
            </a:r>
          </a:p>
          <a:p>
            <a:pPr lvl="1"/>
            <a:r>
              <a:rPr sz="1300"/>
              <a:t>Minimises end-to-end latency (mean and p95) for streaming DAGs</a:t>
            </a:r>
          </a:p>
          <a:p>
            <a:r>
              <a:rPr sz="1300"/>
              <a:t>Subject to:</a:t>
            </a:r>
          </a:p>
          <a:p>
            <a:pPr lvl="1"/>
            <a:r>
              <a:rPr sz="1300"/>
              <a:t>Per-(task, node) runtime  w(t, n)  and bandwidth  B(n, n′)  are unknown a priori on real hardware</a:t>
            </a:r>
          </a:p>
          <a:p>
            <a:pPr lvl="1"/>
            <a:r>
              <a:rPr sz="1300"/>
              <a:t>The placement must be implementable inside a Kubernetes controller, with bounded memory and reconciliation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200">
                <a:solidFill>
                  <a:srgbClr val="980000"/>
                </a:solidFill>
              </a:rPr>
              <a:t>Limitations of existing DAG / streaming frameworks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300"/>
              <a:t>Argo Workflows, Tekton, Airflow, Kubeflow Pipelines</a:t>
            </a:r>
          </a:p>
          <a:p>
            <a:pPr lvl="1"/>
            <a:r>
              <a:rPr sz="1300"/>
              <a:t>Artifact-based: every inter-task transfer goes A → object store → B</a:t>
            </a:r>
          </a:p>
          <a:p>
            <a:pPr lvl="1"/>
            <a:r>
              <a:rPr sz="1300"/>
              <a:t>Network-blind placement; no notion of inter-node bandwidth</a:t>
            </a:r>
          </a:p>
          <a:p>
            <a:pPr lvl="1"/>
            <a:r>
              <a:rPr sz="1300"/>
              <a:t>Object store (S3 / MinIO / NFS) consumes scarce edge resources</a:t>
            </a:r>
          </a:p>
          <a:p>
            <a:r>
              <a:rPr sz="1300"/>
              <a:t>Apache Kafka, Flink, Spark Streaming</a:t>
            </a:r>
          </a:p>
          <a:p>
            <a:pPr lvl="1"/>
            <a:r>
              <a:rPr sz="1300"/>
              <a:t>Heavyweight broker / coordinator clusters; not suited to small edge deployments</a:t>
            </a:r>
          </a:p>
          <a:p>
            <a:pPr lvl="1"/>
            <a:r>
              <a:rPr sz="1300"/>
              <a:t>Streaming-only; cannot express finite pipelines uniformly</a:t>
            </a:r>
          </a:p>
          <a:p>
            <a:r>
              <a:rPr sz="1300"/>
              <a:t>Ray, Dask</a:t>
            </a:r>
          </a:p>
          <a:p>
            <a:pPr lvl="1"/>
            <a:r>
              <a:rPr sz="1300"/>
              <a:t>Object-store mediated; centralised scheduling for cloud topology</a:t>
            </a:r>
          </a:p>
          <a:p>
            <a:pPr lvl="1"/>
            <a:r>
              <a:rPr sz="1300"/>
              <a:t>No first-class concept of per-task hardware affinity</a:t>
            </a:r>
          </a:p>
          <a:p>
            <a:r>
              <a:rPr sz="1300"/>
              <a:t>Common gap: the network is treated as plumbing.  Task completion and data availability are conflated, even when topology and affinity make the difference quantifiable.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800">
                <a:solidFill>
                  <a:srgbClr val="980000"/>
                </a:solidFill>
              </a:rPr>
              <a:t>Contributions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400"/>
              <a:t>C1.  Network-aware HEFT scheduler with online EMA profiling for per-(task, node) runtime and per-(node, node) bandwidth on k3s.</a:t>
            </a:r>
          </a:p>
          <a:p>
            <a:r>
              <a:rPr sz="1400"/>
              <a:t>C2.  ε-tolerant tie-breaking — a bounded-uncertainty extension to list scheduling that addresses estimator-noise–induced concentration of parallel work.</a:t>
            </a:r>
          </a:p>
          <a:p>
            <a:r>
              <a:rPr sz="1400"/>
              <a:t>C3.  Unified Kubernetes-native abstraction for batch (ODAG) and streaming (CDAG) DAGs, with a single SDK and observability layer.</a:t>
            </a:r>
          </a:p>
          <a:p>
            <a:r>
              <a:rPr sz="1400"/>
              <a:t>C4.  Brokerless P2P data plane (data-agent + ZMQ) that avoids shared object stores and message brokers.</a:t>
            </a:r>
          </a:p>
          <a:p>
            <a:r>
              <a:rPr sz="1400"/>
              <a:t>C5.  Empirical evaluation on an 8-node, tc-shaped testbed using three benchmarks; 27% mean / 32% converged makespan reduction (ODAG) and 39% p95-latency reduction (CDAG) over baselines.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5400">
                <a:solidFill>
                  <a:srgbClr val="980000"/>
                </a:solidFill>
              </a:rPr>
              <a:t>Part I — System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DSF 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sz="1300"/>
              <a:t>CRDs and controllers</a:t>
            </a:r>
          </a:p>
          <a:p>
            <a:r>
              <a:rPr sz="1300"/>
              <a:t>Programming model</a:t>
            </a:r>
          </a:p>
          <a:p>
            <a:r>
              <a:rPr sz="1300"/>
              <a:t>Communication transports</a:t>
            </a:r>
          </a:p>
          <a:p>
            <a:r>
              <a:rPr sz="1300"/>
              <a:t>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800">
                <a:solidFill>
                  <a:srgbClr val="980000"/>
                </a:solidFill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0896" y="1188720"/>
            <a:ext cx="2194560" cy="457200"/>
          </a:xfrm>
          <a:prstGeom prst="roundRect">
            <a:avLst>
              <a:gd name="adj" fmla="val 18000"/>
            </a:avLst>
          </a:prstGeom>
          <a:solidFill>
            <a:srgbClr val="1F3A68"/>
          </a:solidFill>
          <a:ln w="635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0896" y="11887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</a:rPr>
              <a:t>User  ·  dsf CLI / kubectl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" y="1783080"/>
            <a:ext cx="2194560" cy="457200"/>
          </a:xfrm>
          <a:prstGeom prst="roundRect">
            <a:avLst>
              <a:gd name="adj" fmla="val 18000"/>
            </a:avLst>
          </a:prstGeom>
          <a:solidFill>
            <a:srgbClr val="E8EEF6"/>
          </a:solidFill>
          <a:ln w="635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0896" y="17830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1F3A68"/>
                </a:solidFill>
              </a:rPr>
              <a:t>K8s API server (CRDs)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1097280"/>
            <a:ext cx="3840480" cy="26060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11612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3A68"/>
                </a:solidFill>
              </a:rPr>
              <a:t>dsf-system  (master)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463040"/>
            <a:ext cx="178308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20" y="146304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A1A1A"/>
                </a:solidFill>
              </a:rPr>
              <a:t>odag-controller
(one-shot DAGs)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463040"/>
            <a:ext cx="178308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46304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A1A1A"/>
                </a:solidFill>
              </a:rPr>
              <a:t>cdag-controller
(continuous DAGs)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2103120"/>
            <a:ext cx="365760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88920" y="210312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A1A1A"/>
                </a:solidFill>
              </a:rPr>
              <a:t>ui-server  ·  watch cache  ·  SQLite  ·  SSE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2697480"/>
            <a:ext cx="3657600" cy="5029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269748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A1A1A"/>
                </a:solidFill>
              </a:rPr>
              <a:t>data-agent  (DaemonSet, P2P HTTP)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097280"/>
            <a:ext cx="2194560" cy="2606040"/>
          </a:xfrm>
          <a:prstGeom prst="roundRect">
            <a:avLst>
              <a:gd name="adj" fmla="val 18000"/>
            </a:avLst>
          </a:prstGeom>
          <a:solidFill>
            <a:srgbClr val="FAF4EC"/>
          </a:solidFill>
          <a:ln w="6350">
            <a:solidFill>
              <a:srgbClr val="C85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1097280"/>
            <a:ext cx="2194560" cy="2606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11612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C85A17"/>
                </a:solidFill>
              </a:rPr>
              <a:t>Worker pods  (k3s)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1463040"/>
            <a:ext cx="20116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85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14630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A1A1A"/>
                </a:solidFill>
              </a:rPr>
              <a:t>task pod (DSF SDK)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2011680"/>
            <a:ext cx="20116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85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201168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A1A1A"/>
                </a:solidFill>
              </a:rPr>
              <a:t>task pod (DSF SDK)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2560320"/>
            <a:ext cx="20116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85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25603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A1A1A"/>
                </a:solidFill>
              </a:rPr>
              <a:t>task pod (DSF SDK)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1089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1">
                <a:solidFill>
                  <a:srgbClr val="555555"/>
                </a:solidFill>
              </a:rPr>
              <a:t>ZMQ PUSH/PULL · PUB/SUB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" y="3840480"/>
            <a:ext cx="852220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3A68"/>
                </a:solidFill>
              </a:rPr>
              <a:t>Design choices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•  All ODAG pods start simultaneously; downstream blocks on recv()  ·  one ClusterIP Service per task → stable DNS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•  CDAG reconciles every 30 s; failed pods are recreated within constraint sets  ·  owner references → GC on CR delete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200">
                <a:solidFill>
                  <a:srgbClr val="980000"/>
                </a:solidFill>
              </a:rPr>
              <a:t>Two execution models in one CRD group: dsf.io/v1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400" b="1">
                <a:solidFill>
                  <a:srgbClr val="1F3A68"/>
                </a:solidFill>
              </a:rPr>
              <a:t>ODAG — one-shot</a:t>
            </a:r>
          </a:p>
          <a:p>
            <a:pPr lvl="1"/>
            <a:r>
              <a:rPr sz="1200"/>
              <a:t>Use case: finite pipelines (ETL, mission analytics)</a:t>
            </a:r>
          </a:p>
          <a:p>
            <a:pPr lvl="1"/>
            <a:r>
              <a:rPr sz="1200"/>
              <a:t>Transport: ZMQ PUSH/PULL  +  data-agent for large files</a:t>
            </a:r>
          </a:p>
          <a:p>
            <a:pPr lvl="1"/>
            <a:r>
              <a:rPr sz="1200"/>
              <a:t>Lifecycle: all pods scheduled simultaneously, run, terminate</a:t>
            </a:r>
          </a:p>
          <a:p>
            <a:pPr lvl="1"/>
            <a:r>
              <a:rPr sz="1200"/>
              <a:t>Status: phase, makespan, completionTime, per-task node</a:t>
            </a:r>
          </a:p>
          <a:p>
            <a:pPr lvl="1"/>
            <a:r>
              <a:rPr sz="1200"/>
              <a:t>Failure handling: spec.retryPolicy.maxRetries per task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sz="1400" b="1">
                <a:solidFill>
                  <a:srgbClr val="C85A17"/>
                </a:solidFill>
              </a:rPr>
              <a:t>CDAG — continuous</a:t>
            </a:r>
          </a:p>
          <a:p>
            <a:pPr lvl="1"/>
            <a:r>
              <a:rPr sz="1200"/>
              <a:t>Use case: streaming pipelines (sensor fusion, monitoring)</a:t>
            </a:r>
          </a:p>
          <a:p>
            <a:pPr lvl="1"/>
            <a:r>
              <a:rPr sz="1200"/>
              <a:t>Transport: ZMQ PUB/SUB  (publisher binds, subscribers connect)</a:t>
            </a:r>
          </a:p>
          <a:p>
            <a:pPr lvl="1"/>
            <a:r>
              <a:rPr sz="1200"/>
              <a:t>Lifecycle: 30-s reconcile loop recreates missing pods</a:t>
            </a:r>
          </a:p>
          <a:p>
            <a:pPr lvl="1"/>
            <a:r>
              <a:rPr sz="1200"/>
              <a:t>Status: per-task readyReplicas / desiredReplicas / node</a:t>
            </a:r>
          </a:p>
          <a:p>
            <a:pPr lvl="1"/>
            <a:r>
              <a:rPr sz="1200"/>
              <a:t>Failure handling: restartPolicy ∈ {Always, OnFailure, Never}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800">
                <a:solidFill>
                  <a:srgbClr val="980000"/>
                </a:solidFill>
              </a:rPr>
              <a:t>ODAG controller lifecycle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300"/>
              <a:t>1.  Watch fires on CR ADDED → goroutine started for this ODAG</a:t>
            </a:r>
          </a:p>
          <a:p>
            <a:r>
              <a:rPr sz="1300"/>
              <a:t>2.  Schedule:  assignTasks() returns task → node mapping</a:t>
            </a:r>
          </a:p>
          <a:p>
            <a:pPr lvl="1"/>
            <a:r>
              <a:rPr sz="1300"/>
              <a:t>Constraint-aware random (baseline) or HEFT (network-aware)</a:t>
            </a:r>
          </a:p>
          <a:p>
            <a:r>
              <a:rPr sz="1300"/>
              <a:t>3.  Create ClusterIP Service + Pod for every task simultaneously</a:t>
            </a:r>
          </a:p>
          <a:p>
            <a:pPr lvl="1"/>
            <a:r>
              <a:rPr sz="1300"/>
              <a:t>Pods carry NodeAffinity to the assigned node</a:t>
            </a:r>
          </a:p>
          <a:p>
            <a:pPr lvl="1"/>
            <a:r>
              <a:rPr sz="1300"/>
              <a:t>DSF_PEER_&lt;TASK&gt; env vars injected with stable DNS endpoints</a:t>
            </a:r>
          </a:p>
          <a:p>
            <a:r>
              <a:rPr sz="1300"/>
              <a:t>4.  Run:  pods communicate via ZMQ PUSH/PULL or data-agent HTTP</a:t>
            </a:r>
          </a:p>
          <a:p>
            <a:r>
              <a:rPr sz="1300"/>
              <a:t>5.  Pod-watch loop writes status.tasks[] (phase, node, timing)</a:t>
            </a:r>
          </a:p>
          <a:p>
            <a:r>
              <a:rPr sz="1300"/>
              <a:t>6.  When all tasks Succeeded:  makespan = end − start, phase = Succeeded; profiler updates EMA estimates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200">
                <a:solidFill>
                  <a:srgbClr val="980000"/>
                </a:solidFill>
              </a:rPr>
              <a:t>CDAG controller: continuous reconciliation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300"/>
              <a:t>Reconcile every 30 s, for every CDAG known to the controller:</a:t>
            </a:r>
          </a:p>
          <a:p>
            <a:pPr lvl="1"/>
            <a:r>
              <a:rPr sz="1300"/>
              <a:t>List pods by   dsf-cdag={name}, dsf-task={task}</a:t>
            </a:r>
          </a:p>
          <a:p>
            <a:pPr lvl="1"/>
            <a:r>
              <a:rPr sz="1300"/>
              <a:t>Count alive pods (Running ∪ Pending)</a:t>
            </a:r>
          </a:p>
          <a:p>
            <a:pPr lvl="1"/>
            <a:r>
              <a:rPr sz="1300"/>
              <a:t>Read pod.Spec.NodeName for status.tasks[].node</a:t>
            </a:r>
          </a:p>
          <a:p>
            <a:pPr lvl="1"/>
            <a:r>
              <a:rPr sz="1300"/>
              <a:t>If alive &lt; desiredReplicas:  delete Failed pods, recreate via pickNode(constraints, schedulableNodes)</a:t>
            </a:r>
          </a:p>
          <a:p>
            <a:pPr lvl="1"/>
            <a:r>
              <a:rPr sz="1300"/>
              <a:t>Update status.tasks[]  (replicas, podNames, node)</a:t>
            </a:r>
          </a:p>
          <a:p>
            <a:pPr lvl="1"/>
            <a:r>
              <a:rPr sz="1300"/>
              <a:t>phase = Running  if all tasks fully ready,  else  Degraded</a:t>
            </a:r>
          </a:p>
          <a:p>
            <a:r>
              <a:rPr sz="1300"/>
              <a:t>Properties:</a:t>
            </a:r>
          </a:p>
          <a:p>
            <a:pPr lvl="1"/>
            <a:r>
              <a:rPr sz="1300"/>
              <a:t>Stateless — relies only on live K8s state, not in-memory snapshots</a:t>
            </a:r>
          </a:p>
          <a:p>
            <a:pPr lvl="1"/>
            <a:r>
              <a:rPr sz="1300"/>
              <a:t>Constraint-respecting — pickNode never violates allowed-node sets</a:t>
            </a:r>
          </a:p>
          <a:p>
            <a:pPr lvl="1"/>
            <a:r>
              <a:rPr sz="1300"/>
              <a:t>Idempotent — repeated reconciles converge to the same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200">
                <a:solidFill>
                  <a:srgbClr val="980000"/>
                </a:solidFill>
              </a:rPr>
              <a:t>Programming model: a four-line task contract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0896" y="1188720"/>
            <a:ext cx="4846320" cy="310896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457200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from dsf_sdk import DSFTask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task = DSFTask()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data = task.recv("upstream")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result = process(data)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task.send("downstream", result)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task.close()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0" y="1188720"/>
            <a:ext cx="352044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A68"/>
                </a:solidFill>
              </a:rPr>
              <a:t>Injected by the controller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F3A68"/>
                </a:solidFill>
                <a:latin typeface="Consolas"/>
              </a:rPr>
              <a:t>DSF_TRANSPORT_PATTERN  </a:t>
            </a:r>
            <a:r>
              <a:rPr sz="1000">
                <a:solidFill>
                  <a:srgbClr val="1A1A1A"/>
                </a:solidFill>
                <a:latin typeface="Consolas"/>
              </a:rPr>
              <a:t>pushpull | pubsub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F3A68"/>
                </a:solidFill>
                <a:latin typeface="Consolas"/>
              </a:rPr>
              <a:t>DSF_RECV_PORT  </a:t>
            </a:r>
            <a:r>
              <a:rPr sz="1000">
                <a:solidFill>
                  <a:srgbClr val="1A1A1A"/>
                </a:solidFill>
                <a:latin typeface="Consolas"/>
              </a:rPr>
              <a:t>5555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F3A68"/>
                </a:solidFill>
                <a:latin typeface="Consolas"/>
              </a:rPr>
              <a:t>DSF_PEER_&lt;TASK&gt;  </a:t>
            </a:r>
            <a:r>
              <a:rPr sz="1000">
                <a:solidFill>
                  <a:srgbClr val="1A1A1A"/>
                </a:solidFill>
                <a:latin typeface="Consolas"/>
              </a:rPr>
              <a:t>zmq://svc.ns.svc.cluster.local:5555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F3A68"/>
                </a:solidFill>
                <a:latin typeface="Consolas"/>
              </a:rPr>
              <a:t>DSF_TASK_NAME  </a:t>
            </a:r>
            <a:r>
              <a:rPr sz="1000">
                <a:solidFill>
                  <a:srgbClr val="1A1A1A"/>
                </a:solidFill>
                <a:latin typeface="Consolas"/>
              </a:rPr>
              <a:t>capture</a:t>
            </a:r>
          </a:p>
          <a:p>
            <a:pPr algn="l">
              <a:spcAft>
                <a:spcPts val="200"/>
              </a:spcAft>
            </a:pPr>
            <a:endParaRPr sz="1000">
              <a:solidFill>
                <a:srgbClr val="1A1A1A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</a:rPr>
              <a:t>The same contract works for both ODAGs and CDAGs.  Transport selection is hidden behind transport/router.py.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800">
                <a:solidFill>
                  <a:srgbClr val="980000"/>
                </a:solidFill>
              </a:rPr>
              <a:t>Communication transports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300"/>
              <a:t>ZMQ PUSH / PULL — one-shot DAGs</a:t>
            </a:r>
          </a:p>
          <a:p>
            <a:pPr lvl="1"/>
            <a:r>
              <a:rPr sz="1300"/>
              <a:t>Receiver binds, senders connect. LINGER = 5 s. 0.2 s sleep after connect (ZMQ slow-joiner). 0.3 s sleep after send (flush).</a:t>
            </a:r>
          </a:p>
          <a:p>
            <a:r>
              <a:rPr sz="1300"/>
              <a:t>ZMQ PUB / SUB — continuous DAGs</a:t>
            </a:r>
          </a:p>
          <a:p>
            <a:pPr lvl="1"/>
            <a:r>
              <a:rPr sz="1300"/>
              <a:t>Publisher binds, subscribers connect. [topic, payload] multipart frames. Subscribers SUBSCRIBE = "" (all topics).</a:t>
            </a:r>
          </a:p>
          <a:p>
            <a:r>
              <a:rPr sz="1300"/>
              <a:t>data-agent (HTTP) — large file transfers</a:t>
            </a:r>
          </a:p>
          <a:p>
            <a:pPr lvl="1"/>
            <a:r>
              <a:rPr sz="1300"/>
              <a:t>DaemonSet on every node. Pod writes locally, agent pushes across the network. Same-node transfer is a local copy. Decouples compute completion from data delivery.</a:t>
            </a:r>
          </a:p>
          <a:p>
            <a:r>
              <a:rPr sz="1300"/>
              <a:t>All endpoints are stable ClusterIP DNS names ({name}-{task}.{ns}.svc.cluster.local:5555), injected at pod creation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200">
                <a:solidFill>
                  <a:srgbClr val="980000"/>
                </a:solidFill>
              </a:rPr>
              <a:t>Observability: web UI, history, live updates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200"/>
              <a:t>Stack:  Go HTTP server with K8s watch caches  +  React + React Flow + Recharts</a:t>
            </a:r>
          </a:p>
          <a:p>
            <a:r>
              <a:rPr sz="1200"/>
              <a:t>Pages:</a:t>
            </a:r>
          </a:p>
          <a:p>
            <a:pPr lvl="1"/>
            <a:r>
              <a:rPr sz="1200"/>
              <a:t>/        — ODAG list (phase, makespan, age)</a:t>
            </a:r>
          </a:p>
          <a:p>
            <a:pPr lvl="1"/>
            <a:r>
              <a:rPr sz="1200"/>
              <a:t>/odags/{ns}/{name}    — graph, tasks table, run history</a:t>
            </a:r>
          </a:p>
          <a:p>
            <a:pPr lvl="1"/>
            <a:r>
              <a:rPr sz="1200"/>
              <a:t>/cdags                — CDAG list</a:t>
            </a:r>
          </a:p>
          <a:p>
            <a:pPr lvl="1"/>
            <a:r>
              <a:rPr sz="1200"/>
              <a:t>/cdags/{ns}/{name}    — graph, replicas, node assignment</a:t>
            </a:r>
          </a:p>
          <a:p>
            <a:pPr lvl="1"/>
            <a:r>
              <a:rPr sz="1200"/>
              <a:t>/batch                — multi-ODAG HEFT Gantt</a:t>
            </a:r>
          </a:p>
          <a:p>
            <a:r>
              <a:rPr sz="1200"/>
              <a:t>Live updates via Server-Sent Events at /api/events</a:t>
            </a:r>
          </a:p>
          <a:p>
            <a:pPr lvl="1"/>
            <a:r>
              <a:rPr sz="1200"/>
              <a:t>Every K8s ADDED/MODIFIED → broadcast to subscribed clients</a:t>
            </a:r>
          </a:p>
          <a:p>
            <a:pPr lvl="1"/>
            <a:r>
              <a:rPr sz="1200"/>
              <a:t>Frontend invalidates the relevant React Query cache</a:t>
            </a:r>
          </a:p>
          <a:p>
            <a:r>
              <a:rPr sz="1200"/>
              <a:t>ODAG run history persisted in SQLite (hostPath)</a:t>
            </a:r>
          </a:p>
          <a:p>
            <a:pPr lvl="1"/>
            <a:r>
              <a:rPr sz="1200"/>
              <a:t>INSERT OR IGNORE keyed on uid + resourceVersion (idempotent)</a:t>
            </a:r>
          </a:p>
          <a:p>
            <a:pPr lvl="1"/>
            <a:r>
              <a:rPr sz="1200"/>
              <a:t>Survives ui-server restarts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5400">
                <a:solidFill>
                  <a:srgbClr val="980000"/>
                </a:solidFill>
              </a:rPr>
              <a:t>Part II — Scheduling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random placement to ε-HEFT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sz="1300"/>
              <a:t>Constraint-aware random baseline</a:t>
            </a:r>
          </a:p>
          <a:p>
            <a:r>
              <a:rPr sz="1300"/>
              <a:t>Network-aware HEFT</a:t>
            </a:r>
          </a:p>
          <a:p>
            <a:r>
              <a:rPr sz="1300"/>
              <a:t>Online EMA profiler</a:t>
            </a:r>
          </a:p>
          <a:p>
            <a:r>
              <a:rPr sz="1300"/>
              <a:t>ε-tolerant tie-breaking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200">
                <a:solidFill>
                  <a:srgbClr val="980000"/>
                </a:solidFill>
              </a:rPr>
              <a:t>Baseline: constraint-aware random placement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0896" y="1188720"/>
            <a:ext cx="4754880" cy="30175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44805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for each task t: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  A_t  =  constraints.nodeNames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        ∩ schedulableClusterNodes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  if A_t == ∅:  A_t  =  schedulableClusterNodes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  τ(t) ←  Uniform(A_t)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57800" y="1188720"/>
            <a:ext cx="361188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A68"/>
                </a:solidFill>
              </a:rPr>
              <a:t>Properties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Trivial, predictable, encodes hardware affinity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Scheduler logic is independent per controller (ODAG/CDAG)</a:t>
            </a:r>
          </a:p>
          <a:p>
            <a:pPr algn="l">
              <a:spcAft>
                <a:spcPts val="200"/>
              </a:spcAft>
            </a:pPr>
            <a:endParaRPr sz="1100" b="0" i="0">
              <a:solidFill>
                <a:srgbClr val="1A1A1A"/>
              </a:solidFill>
            </a:endParaRP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85A17"/>
                </a:solidFill>
              </a:rPr>
              <a:t>What it does not model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Pairwise inter-node bandwidth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Per-(task, node) runtime variability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Co-location vs spread of independent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400">
                <a:solidFill>
                  <a:srgbClr val="980000"/>
                </a:solidFill>
              </a:rPr>
              <a:t>Network-aware HEFT, adapted for k3s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200"/>
              <a:t>Heterogeneous Earliest-Finish-Time [Topcuoglu et al., 2002], with two adaptations for our setting:</a:t>
            </a:r>
          </a:p>
          <a:p>
            <a:r>
              <a:rPr sz="1200"/>
              <a:t>Step 1 — Upward rank (DAG priority):</a:t>
            </a:r>
          </a:p>
          <a:p>
            <a:pPr lvl="1"/>
            <a:r>
              <a:rPr sz="1200"/>
              <a:t>rank(t)  =  w(t)  +  max_{t′ ∈ succ(t)}  [ c(t, t′)  +  rank(t′) ]</a:t>
            </a:r>
          </a:p>
          <a:p>
            <a:pPr lvl="1"/>
            <a:r>
              <a:rPr sz="1200"/>
              <a:t>w(t) = average runtime;  c(t, t′) = d(t, t′) / B̄</a:t>
            </a:r>
          </a:p>
          <a:p>
            <a:r>
              <a:rPr sz="1200"/>
              <a:t>Step 2 — Greedy placement:</a:t>
            </a:r>
          </a:p>
          <a:p>
            <a:pPr lvl="1"/>
            <a:r>
              <a:rPr sz="1200"/>
              <a:t>for t in tasks ordered by descending rank:</a:t>
            </a:r>
          </a:p>
          <a:p>
            <a:pPr lvl="1"/>
            <a:r>
              <a:rPr sz="1200"/>
              <a:t>    τ(t)  =  argmin_{n ∈ A(t)}  EFT(t, n)</a:t>
            </a:r>
          </a:p>
          <a:p>
            <a:r>
              <a:rPr sz="1200"/>
              <a:t>Adaptations:</a:t>
            </a:r>
          </a:p>
          <a:p>
            <a:pPr lvl="1"/>
            <a:r>
              <a:rPr sz="1200"/>
              <a:t>Bandwidth-weighted edge cost uses learned B(n, n′), not a constant</a:t>
            </a:r>
          </a:p>
          <a:p>
            <a:pPr lvl="1"/>
            <a:r>
              <a:rPr sz="1200"/>
              <a:t>Resource-aware nodeAvail (HEFT v2): models that k3s schedules independent pods on the same node in parallel when CPU and memory permit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000">
                <a:solidFill>
                  <a:srgbClr val="980000"/>
                </a:solidFill>
              </a:rPr>
              <a:t>Online profiler: EMA estimates of runtime and bandwidth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300"/>
              <a:t>EMA update (per (task, node) and per (node, node) pair):</a:t>
            </a:r>
          </a:p>
          <a:p>
            <a:pPr lvl="1"/>
            <a:r>
              <a:rPr sz="1300"/>
              <a:t>μ_{i+1}  =  α · sample  +  (1 − α) · μ_i        with  α = 0.7</a:t>
            </a:r>
          </a:p>
          <a:p>
            <a:r>
              <a:rPr sz="1300"/>
              <a:t>Resolver chain at scheduling time:</a:t>
            </a:r>
          </a:p>
          <a:p>
            <a:pPr lvl="1"/>
            <a:r>
              <a:rPr sz="1300"/>
              <a:t>1.  profiler estimate, if  #samples ≥ minSamples</a:t>
            </a:r>
          </a:p>
          <a:p>
            <a:pPr lvl="1"/>
            <a:r>
              <a:rPr sz="1300"/>
              <a:t>2.  spec hint  (runtime, dataSize from YAML)</a:t>
            </a:r>
          </a:p>
          <a:p>
            <a:pPr lvl="1"/>
            <a:r>
              <a:rPr sz="1300"/>
              <a:t>3.  template default  (scheduler-level fallback)</a:t>
            </a:r>
          </a:p>
          <a:p>
            <a:pPr lvl="1"/>
            <a:r>
              <a:rPr sz="1300"/>
              <a:t>4.  hardcoded floor  (never NaN)</a:t>
            </a:r>
          </a:p>
          <a:p>
            <a:r>
              <a:rPr sz="1300"/>
              <a:t>Settings:  warmupRuns = 0,  minSamples = 2,  maxSamples = 50</a:t>
            </a:r>
          </a:p>
          <a:p>
            <a:r>
              <a:rPr sz="1300"/>
              <a:t>Persistence:  EMA state stored in SQLite alongside ODAG run history; survives controller restart.</a:t>
            </a:r>
          </a:p>
          <a:p>
            <a:r>
              <a:rPr sz="1300"/>
              <a:t>Implication:  HEFT inputs are learned online, with no operator-supplied per-task profile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200">
                <a:solidFill>
                  <a:srgbClr val="980000"/>
                </a:solidFill>
              </a:rPr>
              <a:t>ε-tolerant tie-breaking under estimator noise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200"/>
              <a:t>Pathology — observed in the IoBT 4-sensor benchmark:</a:t>
            </a:r>
          </a:p>
          <a:p>
            <a:pPr lvl="1"/>
            <a:r>
              <a:rPr sz="1200"/>
              <a:t>All four parallel infer-i tasks land on a single compute node, across consecutive runs, despite three candidate nodes with near-identical EMA-learned runtimes.</a:t>
            </a:r>
          </a:p>
          <a:p>
            <a:r>
              <a:rPr sz="1200"/>
              <a:t>Cause:  EMA estimates are point estimates with hidden uncertainty.  Strict EFT comparison ( &lt; ) makes the tiebreaker the iteration order.</a:t>
            </a:r>
          </a:p>
          <a:p>
            <a:r>
              <a:rPr sz="1200"/>
              <a:t>Fix — bounded tolerance:</a:t>
            </a:r>
          </a:p>
          <a:p>
            <a:pPr lvl="1"/>
            <a:r>
              <a:rPr sz="1200"/>
              <a:t>minEFT  =  min_{n}  EFT(t, n)</a:t>
            </a:r>
          </a:p>
          <a:p>
            <a:pPr lvl="1"/>
            <a:r>
              <a:rPr sz="1200"/>
              <a:t>candidates  =  { n  :  EFT(t, n) ≤ minEFT + ε }</a:t>
            </a:r>
          </a:p>
          <a:p>
            <a:pPr lvl="1"/>
            <a:r>
              <a:rPr sz="1200"/>
              <a:t>τ(t)  =  arg min_{n ∈ candidates}  load(n)</a:t>
            </a:r>
          </a:p>
          <a:p>
            <a:r>
              <a:rPr sz="1200"/>
              <a:t>Properties:</a:t>
            </a:r>
          </a:p>
          <a:p>
            <a:pPr lvl="1"/>
            <a:r>
              <a:rPr sz="1200"/>
              <a:t>ε = 0  is already strictly better than classical HEFT (exact ties broken by load instead of iteration order)</a:t>
            </a:r>
          </a:p>
          <a:p>
            <a:pPr lvl="1"/>
            <a:r>
              <a:rPr sz="1200"/>
              <a:t>ε &gt; 0  absorbs profiler noise; mean makespan unchanged, p95 tightens; placement entropy increases</a:t>
            </a:r>
          </a:p>
          <a:p>
            <a:pPr lvl="1"/>
            <a:r>
              <a:rPr sz="1200"/>
              <a:t>Generalises naturally to variance-aware EFT:  EFT  +  k · 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5400">
                <a:solidFill>
                  <a:srgbClr val="980000"/>
                </a:solidFill>
              </a:rPr>
              <a:t>Part III —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we measured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sz="1300"/>
              <a:t>8-node tc-shaped testbed</a:t>
            </a:r>
          </a:p>
          <a:p>
            <a:r>
              <a:rPr sz="1300"/>
              <a:t>Three ODAG benchmarks</a:t>
            </a:r>
          </a:p>
          <a:p>
            <a:r>
              <a:rPr sz="1300"/>
              <a:t>ε-HEFT ablation</a:t>
            </a:r>
          </a:p>
          <a:p>
            <a:r>
              <a:rPr sz="1300"/>
              <a:t>Calibration and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200">
                <a:solidFill>
                  <a:srgbClr val="980000"/>
                </a:solidFill>
              </a:rPr>
              <a:t>Experimental setup: 8-node tc-shaped cluster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0896" y="1188720"/>
            <a:ext cx="4023360" cy="3246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635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749039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3A68"/>
                </a:solidFill>
              </a:rPr>
              <a:t>Cluster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k3s, dsf-system namespace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8 schedulable workers (anrg-1, 3..9)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Master anrg-2 (NoSchedule)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Local registry on master</a:t>
            </a:r>
          </a:p>
          <a:p>
            <a:pPr algn="l">
              <a:spcAft>
                <a:spcPts val="200"/>
              </a:spcAft>
            </a:pPr>
            <a:endParaRPr sz="1100" b="0" i="0">
              <a:solidFill>
                <a:srgbClr val="1A1A1A"/>
              </a:solidFill>
            </a:endParaRP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3A68"/>
                </a:solidFill>
              </a:rPr>
              <a:t>tc bandwidth matrix (asymmetric, 20×)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F = 1 Gbps  (same-tier)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M = 100 Mbps  (cross-tier)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S = 50 Mbps  (engineered bottlenecks)</a:t>
            </a:r>
          </a:p>
          <a:p>
            <a:pPr algn="l">
              <a:spcAft>
                <a:spcPts val="200"/>
              </a:spcAft>
            </a:pPr>
            <a:endParaRPr sz="1100" b="0" i="0">
              <a:solidFill>
                <a:srgbClr val="1A1A1A"/>
              </a:solidFill>
            </a:endParaRP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3A68"/>
                </a:solidFill>
              </a:rPr>
              <a:t>Benchmarks  (3 ODAGs)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iobt — 14 tasks, 5 layers, 80–150 MB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hetero-compute — 5 tasks, runtime hints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</a:rPr>
              <a:t>•  wide-pipeline-flex — fan-out × 2, fan-in × 2</a:t>
            </a:r>
          </a:p>
        </p:txBody>
      </p:sp>
      <p:pic>
        <p:nvPicPr>
          <p:cNvPr id="5" name="Picture 4" descr="bandwidth-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188720"/>
            <a:ext cx="4343400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200">
                <a:solidFill>
                  <a:srgbClr val="980000"/>
                </a:solidFill>
              </a:rPr>
              <a:t>Experiment 1A: makespan, random vs HEFT vs ε-HEFT</a:t>
            </a:r>
          </a:p>
        </p:txBody>
      </p:sp>
      <p:pic>
        <p:nvPicPr>
          <p:cNvPr id="3" name="Picture 2" descr="makespan-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188720"/>
            <a:ext cx="5760720" cy="3246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188720"/>
            <a:ext cx="2651760" cy="3246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635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280160"/>
            <a:ext cx="24231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Setup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iobt + hetero-compute + wide-pipeline-flex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20 runs per (benchmark × scheduler)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Warm makespans (post-convergence)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Headline (iobt)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random:  35.5 s   (σ 5.5 s)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HEFT:    25.8 s   (σ 4.7 s)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HEFT*:   24.0 s   (σ 0.8 s)  — converged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85A17"/>
                </a:solidFill>
              </a:rPr>
              <a:t>−27 % overall, −32 % converged</a:t>
            </a:r>
          </a:p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</a:rPr>
              <a:t>* runs ≥ 4 (after EMA convergence)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000">
                <a:solidFill>
                  <a:srgbClr val="980000"/>
                </a:solidFill>
              </a:rPr>
              <a:t>Profiler convergence: cold-start to optimal in 3–4 runs</a:t>
            </a:r>
          </a:p>
        </p:txBody>
      </p:sp>
      <p:pic>
        <p:nvPicPr>
          <p:cNvPr id="3" name="Picture 2" descr="makespan-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188720"/>
            <a:ext cx="5760720" cy="3246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188720"/>
            <a:ext cx="2651760" cy="3246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635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280160"/>
            <a:ext cx="24231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Reading the curve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Run 1: HEFT &gt; random (cold profiler)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Runs 2–3: EMA accumulates samples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Runs ≥ 4: HEFT settles ~32 % below random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Caveat</a:t>
            </a:r>
          </a:p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</a:rPr>
              <a:t>First-run cost is real; not hidden in our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200">
                <a:solidFill>
                  <a:srgbClr val="980000"/>
                </a:solidFill>
              </a:rPr>
              <a:t>ε-HEFT ablation: placement spreads, mean unchanged</a:t>
            </a:r>
          </a:p>
        </p:txBody>
      </p:sp>
      <p:pic>
        <p:nvPicPr>
          <p:cNvPr id="3" name="Picture 2" descr="iobt-infer-plac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188720"/>
            <a:ext cx="5760720" cy="3246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188720"/>
            <a:ext cx="2651760" cy="3246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635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280160"/>
            <a:ext cx="24231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iobt infer-i placement share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ε = 0 (strict):  one node dominates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ε = 0.5:   two nodes share the work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ε = 1.0:   ~uniform across three nodes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ε = 2.0:   uniform (saturates)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Effect on makespan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Mean ≈ unchanged across ε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85A17"/>
                </a:solidFill>
              </a:rPr>
              <a:t>p95 tightens as ε grows</a:t>
            </a:r>
          </a:p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</a:rPr>
              <a:t>Spread vs efficiency Pareto front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000">
                <a:solidFill>
                  <a:srgbClr val="980000"/>
                </a:solidFill>
              </a:rPr>
              <a:t>Calibration: predicted makespan vs measured wall-clock</a:t>
            </a:r>
          </a:p>
        </p:txBody>
      </p:sp>
      <p:pic>
        <p:nvPicPr>
          <p:cNvPr id="3" name="Picture 2" descr="prediction-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188720"/>
            <a:ext cx="5760720" cy="3246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188720"/>
            <a:ext cx="2651760" cy="3246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635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280160"/>
            <a:ext cx="24231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Reading the scatter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Cluster around y = x → calibrated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Slight under-prediction in early warm runs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Sources of error not modelled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Image-pull jitter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Same-node memory contention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Pod-startup variance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200">
                <a:solidFill>
                  <a:srgbClr val="980000"/>
                </a:solidFill>
              </a:rPr>
              <a:t>Experiment 1B: CDAG random vs locality (latency)</a:t>
            </a:r>
          </a:p>
        </p:txBody>
      </p:sp>
      <p:pic>
        <p:nvPicPr>
          <p:cNvPr id="3" name="Picture 2" descr="cdag-latency-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188720"/>
            <a:ext cx="5760720" cy="3246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188720"/>
            <a:ext cx="2651760" cy="3246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635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280160"/>
            <a:ext cx="24231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Camera fusion pipeline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9 tasks, 5 MB frames at 1 Hz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5 instances × 120 s each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Headline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Mean latency:  590 → 462 ms  (−22 %)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85A17"/>
                </a:solidFill>
              </a:rPr>
              <a:t>p95 latency:  1238 → 749 ms  (−39 %)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Throughput unchanged (camera-bound)</a:t>
            </a:r>
          </a:p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</a:rPr>
              <a:t>Tail dominates real-time edge SLAs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200">
                <a:solidFill>
                  <a:srgbClr val="980000"/>
                </a:solidFill>
              </a:rPr>
              <a:t>Experiment 2: P2P vs centralised data plane</a:t>
            </a:r>
          </a:p>
        </p:txBody>
      </p:sp>
      <p:pic>
        <p:nvPicPr>
          <p:cNvPr id="3" name="Picture 2" descr="scalability-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188720"/>
            <a:ext cx="5760720" cy="3246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0" y="1188720"/>
            <a:ext cx="2651760" cy="3246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635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5080" y="1280160"/>
            <a:ext cx="24231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Topology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source → N workers → sink, N ∈ {2, 4, 6, 8}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ODAG: P2P vs NFS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P2P data-agent: parallel HTTP push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NFS: all I/O funnels through one pod</a:t>
            </a:r>
          </a:p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</a:rPr>
              <a:t>Expected: NFS makespan grows with N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3A68"/>
                </a:solidFill>
              </a:rPr>
              <a:t>CDAG: ZMQ vs MQTT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ZMQ: direct PUB/SUB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MQTT: source → broker → subscribers</a:t>
            </a:r>
          </a:p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</a:rPr>
              <a:t>Expected: ZMQ throughput linear; MQTT plateaus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5400">
                <a:solidFill>
                  <a:srgbClr val="980000"/>
                </a:solidFill>
              </a:rPr>
              <a:t>Part IV — Discussion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Lessons, limitations, and what's next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sz="1300"/>
              <a:t>Implementation lessons</a:t>
            </a:r>
          </a:p>
          <a:p>
            <a:r>
              <a:rPr sz="1300"/>
              <a:t>Limitations</a:t>
            </a:r>
          </a:p>
          <a:p>
            <a:r>
              <a:rPr sz="1300"/>
              <a:t>Future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400">
                <a:solidFill>
                  <a:srgbClr val="980000"/>
                </a:solidFill>
              </a:rPr>
              <a:t>Lessons learned during implementation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200"/>
              <a:t>Pod parallelism on a single node breaks classical HEFT</a:t>
            </a:r>
          </a:p>
          <a:p>
            <a:pPr lvl="1"/>
            <a:r>
              <a:rPr sz="1200"/>
              <a:t>k3s schedules independent pods in parallel when resources permit; HEFT v2 models nodeAvail as resource intervals, not a scalar.</a:t>
            </a:r>
          </a:p>
          <a:p>
            <a:r>
              <a:rPr sz="1200"/>
              <a:t>EMA-learned runtimes converge — and tie</a:t>
            </a:r>
          </a:p>
          <a:p>
            <a:pPr lvl="1"/>
            <a:r>
              <a:rPr sz="1200"/>
              <a:t>Per-task estimates on equivalent compute nodes converge to near-identical values; strict EFT then concentrates load.</a:t>
            </a:r>
          </a:p>
          <a:p>
            <a:r>
              <a:rPr sz="1200"/>
              <a:t>ZMQ is timing-sensitive even for small messages</a:t>
            </a:r>
          </a:p>
          <a:p>
            <a:pPr lvl="1"/>
            <a:r>
              <a:rPr sz="1200"/>
              <a:t>LINGER and slow-joiner sleeps are not optional in multi-pod K8s deployments; revisited every ZMQ pitfall.</a:t>
            </a:r>
          </a:p>
          <a:p>
            <a:r>
              <a:rPr sz="1200"/>
              <a:t>imagePullPolicy interacts with first-run measurements</a:t>
            </a:r>
          </a:p>
          <a:p>
            <a:pPr lvl="1"/>
            <a:r>
              <a:rPr sz="1200"/>
              <a:t>imagePullPolicy: Always is required for correctness with :latest tags; first-run overhead must be reported separately.</a:t>
            </a:r>
          </a:p>
          <a:p>
            <a:r>
              <a:rPr sz="1200"/>
              <a:t>K8s API quirk:  CRD type number is stored as int64</a:t>
            </a:r>
          </a:p>
          <a:p>
            <a:pPr lvl="1"/>
            <a:r>
              <a:rPr sz="1200"/>
              <a:t>Strict float64 assertion fails silently; nestedFloat() helper handles the three observed encodings.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800">
                <a:solidFill>
                  <a:srgbClr val="980000"/>
                </a:solidFill>
              </a:rPr>
              <a:t>Limitations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200"/>
              <a:t>Single-cluster, single-region testbed</a:t>
            </a:r>
          </a:p>
          <a:p>
            <a:pPr lvl="1"/>
            <a:r>
              <a:rPr sz="1200"/>
              <a:t>All evaluation on a LAN with engineered tc shaping; WAN-scale or multi-cluster scenarios not validated.</a:t>
            </a:r>
          </a:p>
          <a:p>
            <a:r>
              <a:rPr sz="1200"/>
              <a:t>Profiler is keyed on (task, node), not input size</a:t>
            </a:r>
          </a:p>
          <a:p>
            <a:pPr lvl="1"/>
            <a:r>
              <a:rPr sz="1200"/>
              <a:t>Variable-input pipelines may need finer-grained estimates.</a:t>
            </a:r>
          </a:p>
          <a:p>
            <a:r>
              <a:rPr sz="1200"/>
              <a:t>ε is a fixed scalar</a:t>
            </a:r>
          </a:p>
          <a:p>
            <a:pPr lvl="1"/>
            <a:r>
              <a:rPr sz="1200"/>
              <a:t>Variance-aware EFT (EFT + k·σ) is a natural extension; not yet implemented.</a:t>
            </a:r>
          </a:p>
          <a:p>
            <a:r>
              <a:rPr sz="1200"/>
              <a:t>No fault-injection campaign</a:t>
            </a:r>
          </a:p>
          <a:p>
            <a:pPr lvl="1"/>
            <a:r>
              <a:rPr sz="1200"/>
              <a:t>data-agent retries (5×, 500 ms backoff) are unmeasured under partial-network partitions.</a:t>
            </a:r>
          </a:p>
          <a:p>
            <a:r>
              <a:rPr sz="1200"/>
              <a:t>Broker-comparison numbers (Experiment 2) collected but not yet analysed at full breadth.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800">
                <a:solidFill>
                  <a:srgbClr val="980000"/>
                </a:solidFill>
              </a:rPr>
              <a:t>Future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300"/>
              <a:t>Variance-aware HEFT</a:t>
            </a:r>
          </a:p>
          <a:p>
            <a:pPr lvl="1"/>
            <a:r>
              <a:rPr sz="1300"/>
              <a:t>Move from ε-tolerance to a proper risk-adjusted EFT, EFT + k·σ, with σ from the EMA second moment.</a:t>
            </a:r>
          </a:p>
          <a:p>
            <a:r>
              <a:rPr sz="1300"/>
              <a:t>Cross-CDAG flow tracker</a:t>
            </a:r>
          </a:p>
          <a:p>
            <a:pPr lvl="1"/>
            <a:r>
              <a:rPr sz="1300"/>
              <a:t>Locality scheduler aware of bandwidth already in use by other concurrent CDAGs.</a:t>
            </a:r>
          </a:p>
          <a:p>
            <a:r>
              <a:rPr sz="1300"/>
              <a:t>DataReady triggering</a:t>
            </a:r>
          </a:p>
          <a:p>
            <a:pPr lvl="1"/>
            <a:r>
              <a:rPr sz="1300"/>
              <a:t>Fire downstream tasks when data lands on their node, not when the upstream pod exits — closes the compute–transfer decoupling story.</a:t>
            </a:r>
          </a:p>
          <a:p>
            <a:r>
              <a:rPr sz="1300"/>
              <a:t>Per-input-size profiler keys</a:t>
            </a:r>
          </a:p>
          <a:p>
            <a:pPr lvl="1"/>
            <a:r>
              <a:rPr sz="1300"/>
              <a:t>Per-(task, node, input-bucket) estimates for variable-input pipelines.</a:t>
            </a:r>
          </a:p>
          <a:p>
            <a:r>
              <a:rPr sz="1300"/>
              <a:t>Paper:  targeting a systems venue (SEC / SoCC / EuroSys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800">
                <a:solidFill>
                  <a:srgbClr val="980000"/>
                </a:solidFill>
              </a:rPr>
              <a:t>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400"/>
              <a:t>DSF is a network-aware DAG scheduling framework for k3s, supporting both one-shot and continuous pipelines under one CRD group.</a:t>
            </a:r>
          </a:p>
          <a:p>
            <a:r>
              <a:rPr sz="1400"/>
              <a:t>Network-aware HEFT with online EMA profiling reduces makespan by 27 % (mean) / 32 % (converged) on an 8-node testbed; variance drops from 5.5 s to 0.8 s.</a:t>
            </a:r>
          </a:p>
          <a:p>
            <a:r>
              <a:rPr sz="1400"/>
              <a:t>ε-tolerant tie-breaking spreads parallel work without losing EFT optimality; p95 makespan tightens as ε grows.</a:t>
            </a:r>
          </a:p>
          <a:p>
            <a:r>
              <a:rPr sz="1400"/>
              <a:t>Brokerless P2P data plane (ZMQ + data-agent) avoids the shared-store and broker overhead that dominates small clusters.</a:t>
            </a:r>
          </a:p>
          <a:p>
            <a:r>
              <a:rPr sz="1400"/>
              <a:t>Code: github.com/anrg/dsf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800">
                <a:solidFill>
                  <a:srgbClr val="980000"/>
                </a:solidFill>
              </a:rPr>
              <a:t>Acknowledgements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200"/>
              <a:t>ANRG group members for discussions and feedback throughout the implementation, evaluation, and ε-HEFT design.</a:t>
            </a:r>
          </a:p>
          <a:p>
            <a:r>
              <a:rPr sz="1200"/>
              <a:t>Cluster infrastructure provided by the Autonomous Networks Research Group at USC Viterbi.</a:t>
            </a:r>
          </a:p>
          <a:p>
            <a:r>
              <a:rPr sz="1200"/>
              <a:t>Foundational work: Topcuoglu et al. (2002) on HEFT, and the broader literature on workflow scheduling, stream processing, and Kubernetes-native orchestration.</a:t>
            </a:r>
          </a:p>
          <a:p>
            <a:r>
              <a:rPr sz="1200"/>
              <a:t>This work was supported in part by [grant/agency], [award number].  Any opinions and conclusions are those of the author and do not reflect those of the funding agencies.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800">
                <a:solidFill>
                  <a:srgbClr val="980000"/>
                </a:solidFill>
              </a:rPr>
              <a:t>Thank you.  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200">
                <a:solidFill>
                  <a:srgbClr val="980000"/>
                </a:solidFill>
              </a:rPr>
              <a:t>Backup: IoBT DAG topology (14 tasks, 5 layers)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310896" y="1188720"/>
            <a:ext cx="8522208" cy="3246120"/>
          </a:xfrm>
          <a:prstGeom prst="rect">
            <a:avLst/>
          </a:prstGeom>
          <a:solidFill>
            <a:srgbClr val="FAFAFA"/>
          </a:solidFill>
          <a:ln w="12700">
            <a:solidFill>
              <a:srgbClr val="888888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0896" y="1188720"/>
            <a:ext cx="8522208" cy="3246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1">
                <a:solidFill>
                  <a:srgbClr val="555555"/>
                </a:solidFill>
              </a:rPr>
              <a:t>[ FIGURE: IoBT DAG: capture → preprocess → infer → fuse → report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b="1" sz="2800">
                <a:solidFill>
                  <a:srgbClr val="980000"/>
                </a:solidFill>
              </a:rPr>
              <a:t>Backup: numerical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310896"/>
          </a:xfrm>
          <a:prstGeom prst="rect">
            <a:avLst/>
          </a:prstGeom>
          <a:solidFill>
            <a:srgbClr val="1F3A6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</a:rPr>
              <a:t>Bench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280160"/>
            <a:ext cx="1280160" cy="310896"/>
          </a:xfrm>
          <a:prstGeom prst="rect">
            <a:avLst/>
          </a:prstGeom>
          <a:solidFill>
            <a:srgbClr val="1F3A6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128016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</a:rPr>
              <a:t>Config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280160"/>
            <a:ext cx="1188720" cy="310896"/>
          </a:xfrm>
          <a:prstGeom prst="rect">
            <a:avLst/>
          </a:prstGeom>
          <a:solidFill>
            <a:srgbClr val="1F3A6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0" y="128016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</a:rPr>
              <a:t>Mean (s)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1005840" cy="310896"/>
          </a:xfrm>
          <a:prstGeom prst="rect">
            <a:avLst/>
          </a:prstGeom>
          <a:solidFill>
            <a:srgbClr val="1F3A6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1280160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</a:rPr>
              <a:t>σ 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1280160"/>
            <a:ext cx="1188720" cy="310896"/>
          </a:xfrm>
          <a:prstGeom prst="rect">
            <a:avLst/>
          </a:prstGeom>
          <a:solidFill>
            <a:srgbClr val="1F3A6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128016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</a:rPr>
              <a:t>p95 (s)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280160"/>
            <a:ext cx="1371600" cy="310896"/>
          </a:xfrm>
          <a:prstGeom prst="rect">
            <a:avLst/>
          </a:prstGeom>
          <a:solidFill>
            <a:srgbClr val="1F3A6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280160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</a:rPr>
              <a:t>Δ vs random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591056"/>
            <a:ext cx="13716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591056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iobt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1591056"/>
            <a:ext cx="12801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28800" y="1591056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random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1591056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08960" y="1591056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35.5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591056"/>
            <a:ext cx="10058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80" y="1591056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5.5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1591056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0" y="1591056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44.0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591056"/>
            <a:ext cx="13716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1591056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901952"/>
            <a:ext cx="137160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1901952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iobt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1901952"/>
            <a:ext cx="128016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8800" y="1901952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HEFT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1901952"/>
            <a:ext cx="118872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08960" y="1901952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25.8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1901952"/>
            <a:ext cx="100584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97680" y="1901952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4.7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0" y="1901952"/>
            <a:ext cx="118872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0" y="1901952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32.5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1901952"/>
            <a:ext cx="137160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1901952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−27 %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212848"/>
            <a:ext cx="13716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22128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iobt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0" y="2212848"/>
            <a:ext cx="12801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828800" y="221284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HEFT*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2212848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108960" y="2212848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24.0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97680" y="2212848"/>
            <a:ext cx="10058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97680" y="221284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0.8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03520" y="2212848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03520" y="2212848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25.6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2212848"/>
            <a:ext cx="13716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92240" y="22128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−32 %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2523744"/>
            <a:ext cx="137160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" y="2523744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iobt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0" y="2523744"/>
            <a:ext cx="128016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828800" y="2523744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ε-HEFT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0" y="2523744"/>
            <a:ext cx="118872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108960" y="2523744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24.1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97680" y="2523744"/>
            <a:ext cx="100584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97680" y="2523744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0.7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03520" y="2523744"/>
            <a:ext cx="118872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303520" y="2523744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24.9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2240" y="2523744"/>
            <a:ext cx="137160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92240" y="2523744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−32 %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2834640"/>
            <a:ext cx="13716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7200" y="2834640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hetero-c.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28800" y="2834640"/>
            <a:ext cx="12801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828800" y="283464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random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08960" y="2834640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108960" y="283464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97680" y="2834640"/>
            <a:ext cx="10058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297680" y="2834640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03520" y="2834640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303520" y="283464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92240" y="2834640"/>
            <a:ext cx="13716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92240" y="2834640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3145536"/>
            <a:ext cx="137160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57200" y="3145536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hetero-c.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28800" y="3145536"/>
            <a:ext cx="128016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828800" y="3145536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HEFT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08960" y="3145536"/>
            <a:ext cx="118872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108960" y="3145536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97680" y="3145536"/>
            <a:ext cx="100584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297680" y="3145536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303520" y="3145536"/>
            <a:ext cx="118872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303520" y="3145536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92240" y="3145536"/>
            <a:ext cx="137160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92240" y="3145536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3456432"/>
            <a:ext cx="13716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57200" y="3456432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wide-flex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28800" y="3456432"/>
            <a:ext cx="128016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828800" y="3456432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random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108960" y="3456432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108960" y="3456432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97680" y="3456432"/>
            <a:ext cx="10058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297680" y="3456432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303520" y="3456432"/>
            <a:ext cx="11887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303520" y="3456432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492240" y="3456432"/>
            <a:ext cx="137160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492240" y="3456432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3767328"/>
            <a:ext cx="137160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57200" y="376732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wide-flex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828800" y="3767328"/>
            <a:ext cx="128016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828800" y="376732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HEFT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08960" y="3767328"/>
            <a:ext cx="118872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3108960" y="3767328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97680" y="3767328"/>
            <a:ext cx="100584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297680" y="376732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303520" y="3767328"/>
            <a:ext cx="118872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303520" y="3767328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492240" y="3767328"/>
            <a:ext cx="1371600" cy="310896"/>
          </a:xfrm>
          <a:prstGeom prst="rect">
            <a:avLst/>
          </a:prstGeom>
          <a:solidFill>
            <a:srgbClr val="F3F5F8"/>
          </a:solidFill>
          <a:ln w="5080">
            <a:solidFill>
              <a:srgbClr val="CF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492240" y="376732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</a:rPr>
              <a:t>* HEFT, runs 4+ (post-convergence).  Em-dashes denote values not yet committed at this draft.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4002</Words>
  <Application>Microsoft Macintosh PowerPoint</Application>
  <PresentationFormat>On-screen Show (16:9)</PresentationFormat>
  <Paragraphs>421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Consolas</vt:lpstr>
      <vt:lpstr>Arial</vt:lpstr>
      <vt:lpstr>Simple Light</vt:lpstr>
      <vt:lpstr>DSF: A Network-Aware DAG Scheduling Framework for Heterogeneous Edge Clusters</vt:lpstr>
      <vt:lpstr>Outline</vt:lpstr>
      <vt:lpstr>Background: DAG-shaped workloads on edge clusters</vt:lpstr>
      <vt:lpstr>Problem statement</vt:lpstr>
      <vt:lpstr>Limitations of existing DAG / streaming frameworks</vt:lpstr>
      <vt:lpstr>Contributions</vt:lpstr>
      <vt:lpstr>Part I — System architecture</vt:lpstr>
      <vt:lpstr>System architecture</vt:lpstr>
      <vt:lpstr>Two execution models in one CRD group: dsf.io/v1</vt:lpstr>
      <vt:lpstr>ODAG controller lifecycle</vt:lpstr>
      <vt:lpstr>CDAG controller: continuous reconciliation</vt:lpstr>
      <vt:lpstr>Programming model: a four-line task contract</vt:lpstr>
      <vt:lpstr>Communication transports</vt:lpstr>
      <vt:lpstr>Observability: web UI, history, live updates</vt:lpstr>
      <vt:lpstr>Part II — Scheduling</vt:lpstr>
      <vt:lpstr>Baseline: constraint-aware random placement</vt:lpstr>
      <vt:lpstr>Network-aware HEFT, adapted for k3s</vt:lpstr>
      <vt:lpstr>Online profiler: EMA estimates of runtime and bandwidth</vt:lpstr>
      <vt:lpstr>ε-tolerant tie-breaking under estimator noise</vt:lpstr>
      <vt:lpstr>Part III — Evaluation</vt:lpstr>
      <vt:lpstr>Experimental setup: 8-node tc-shaped cluster</vt:lpstr>
      <vt:lpstr>Experiment 1A: makespan, random vs HEFT vs ε-HEFT</vt:lpstr>
      <vt:lpstr>Profiler convergence: cold-start to optimal in 3–4 runs</vt:lpstr>
      <vt:lpstr>ε-HEFT ablation: placement spreads, mean unchanged</vt:lpstr>
      <vt:lpstr>Calibration: predicted makespan vs measured wall-clock</vt:lpstr>
      <vt:lpstr>Experiment 1B: CDAG random vs locality (latency)</vt:lpstr>
      <vt:lpstr>Experiment 2: P2P vs centralised data plane</vt:lpstr>
      <vt:lpstr>Part IV — Discussion</vt:lpstr>
      <vt:lpstr>Lessons learned during implementation</vt:lpstr>
      <vt:lpstr>Limitations</vt:lpstr>
      <vt:lpstr>Future work</vt:lpstr>
      <vt:lpstr>Summary</vt:lpstr>
      <vt:lpstr>Acknowledgements</vt:lpstr>
      <vt:lpstr>Thank you.   Questions?</vt:lpstr>
      <vt:lpstr>Backup: IoBT DAG topology (14 tasks, 5 layers)</vt:lpstr>
      <vt:lpstr>Backup: numerical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Mohammadali Khodabandehlou</cp:lastModifiedBy>
  <cp:revision>2</cp:revision>
  <dcterms:modified xsi:type="dcterms:W3CDTF">2026-05-01T08:17:00Z</dcterms:modified>
</cp:coreProperties>
</file>